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nonymous Pro" charset="1" panose="020606090302020005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36377" y="7936471"/>
            <a:ext cx="3551623" cy="2350529"/>
          </a:xfrm>
          <a:custGeom>
            <a:avLst/>
            <a:gdLst/>
            <a:ahLst/>
            <a:cxnLst/>
            <a:rect r="r" b="b" t="t" l="l"/>
            <a:pathLst>
              <a:path h="2350529" w="3551623">
                <a:moveTo>
                  <a:pt x="0" y="0"/>
                </a:moveTo>
                <a:lnTo>
                  <a:pt x="3551623" y="0"/>
                </a:lnTo>
                <a:lnTo>
                  <a:pt x="3551623" y="2350529"/>
                </a:lnTo>
                <a:lnTo>
                  <a:pt x="0" y="2350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897" y="7948733"/>
            <a:ext cx="3551623" cy="2350529"/>
          </a:xfrm>
          <a:custGeom>
            <a:avLst/>
            <a:gdLst/>
            <a:ahLst/>
            <a:cxnLst/>
            <a:rect r="r" b="b" t="t" l="l"/>
            <a:pathLst>
              <a:path h="2350529" w="3551623">
                <a:moveTo>
                  <a:pt x="3551623" y="0"/>
                </a:moveTo>
                <a:lnTo>
                  <a:pt x="0" y="0"/>
                </a:lnTo>
                <a:lnTo>
                  <a:pt x="0" y="2350529"/>
                </a:lnTo>
                <a:lnTo>
                  <a:pt x="3551623" y="2350529"/>
                </a:lnTo>
                <a:lnTo>
                  <a:pt x="35516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40249" y="255576"/>
            <a:ext cx="14007503" cy="25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28"/>
              </a:lnSpc>
              <a:spcBef>
                <a:spcPct val="0"/>
              </a:spcBef>
            </a:pPr>
            <a:r>
              <a:rPr lang="en-US" sz="14877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ABYSS WALKER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20288" y="2809428"/>
            <a:ext cx="3423515" cy="2798724"/>
          </a:xfrm>
          <a:custGeom>
            <a:avLst/>
            <a:gdLst/>
            <a:ahLst/>
            <a:cxnLst/>
            <a:rect r="r" b="b" t="t" l="l"/>
            <a:pathLst>
              <a:path h="2798724" w="3423515">
                <a:moveTo>
                  <a:pt x="0" y="0"/>
                </a:moveTo>
                <a:lnTo>
                  <a:pt x="3423516" y="0"/>
                </a:lnTo>
                <a:lnTo>
                  <a:pt x="3423516" y="2798724"/>
                </a:lnTo>
                <a:lnTo>
                  <a:pt x="0" y="2798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544196" y="2809428"/>
            <a:ext cx="3423515" cy="2798724"/>
          </a:xfrm>
          <a:custGeom>
            <a:avLst/>
            <a:gdLst/>
            <a:ahLst/>
            <a:cxnLst/>
            <a:rect r="r" b="b" t="t" l="l"/>
            <a:pathLst>
              <a:path h="2798724" w="3423515">
                <a:moveTo>
                  <a:pt x="3423516" y="0"/>
                </a:moveTo>
                <a:lnTo>
                  <a:pt x="0" y="0"/>
                </a:lnTo>
                <a:lnTo>
                  <a:pt x="0" y="2798724"/>
                </a:lnTo>
                <a:lnTo>
                  <a:pt x="3423516" y="2798724"/>
                </a:lnTo>
                <a:lnTo>
                  <a:pt x="342351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063866"/>
            <a:ext cx="637073" cy="159268"/>
          </a:xfrm>
          <a:custGeom>
            <a:avLst/>
            <a:gdLst/>
            <a:ahLst/>
            <a:cxnLst/>
            <a:rect r="r" b="b" t="t" l="l"/>
            <a:pathLst>
              <a:path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32046" y="2993006"/>
            <a:ext cx="10106372" cy="2298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9"/>
              </a:lnSpc>
              <a:spcBef>
                <a:spcPct val="0"/>
              </a:spcBef>
            </a:pPr>
            <a:r>
              <a:rPr lang="en-US" sz="6570" spc="214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PROCEDURAL C90 GAME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29448" y="5551002"/>
            <a:ext cx="8311567" cy="140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5"/>
              </a:lnSpc>
            </a:pPr>
            <a:r>
              <a:rPr lang="en-US" sz="271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50.051 Programming Language Concepts (Y2026)</a:t>
            </a:r>
          </a:p>
          <a:p>
            <a:pPr algn="ctr">
              <a:lnSpc>
                <a:spcPts val="3795"/>
              </a:lnSpc>
            </a:pPr>
            <a:r>
              <a:rPr lang="en-US" sz="271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Project Report Presentation</a:t>
            </a:r>
          </a:p>
          <a:p>
            <a:pPr algn="ctr">
              <a:lnSpc>
                <a:spcPts val="3795"/>
              </a:lnSpc>
              <a:spcBef>
                <a:spcPct val="0"/>
              </a:spcBef>
            </a:pPr>
            <a:r>
              <a:rPr lang="en-US" sz="271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Group 11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622227" y="5063866"/>
            <a:ext cx="637073" cy="159268"/>
          </a:xfrm>
          <a:custGeom>
            <a:avLst/>
            <a:gdLst/>
            <a:ahLst/>
            <a:cxnLst/>
            <a:rect r="r" b="b" t="t" l="l"/>
            <a:pathLst>
              <a:path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88216" y="7216858"/>
            <a:ext cx="8311567" cy="188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5"/>
              </a:lnSpc>
            </a:pPr>
            <a:r>
              <a:rPr lang="en-US" sz="271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Wonna Tun 1007687</a:t>
            </a:r>
          </a:p>
          <a:p>
            <a:pPr algn="ctr">
              <a:lnSpc>
                <a:spcPts val="3795"/>
              </a:lnSpc>
            </a:pPr>
            <a:r>
              <a:rPr lang="en-US" sz="271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Teng Thian Foo 1008139</a:t>
            </a:r>
          </a:p>
          <a:p>
            <a:pPr algn="ctr">
              <a:lnSpc>
                <a:spcPts val="3795"/>
              </a:lnSpc>
            </a:pPr>
            <a:r>
              <a:rPr lang="en-US" sz="271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Pathomphu Kanapornthada 1008050</a:t>
            </a:r>
          </a:p>
          <a:p>
            <a:pPr algn="ctr">
              <a:lnSpc>
                <a:spcPts val="3795"/>
              </a:lnSpc>
              <a:spcBef>
                <a:spcPct val="0"/>
              </a:spcBef>
            </a:pPr>
            <a:r>
              <a:rPr lang="en-US" sz="271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Chadrick Liang Jing 1007998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5374402" y="-545870"/>
            <a:ext cx="7539197" cy="12053949"/>
          </a:xfrm>
          <a:custGeom>
            <a:avLst/>
            <a:gdLst/>
            <a:ahLst/>
            <a:cxnLst/>
            <a:rect r="r" b="b" t="t" l="l"/>
            <a:pathLst>
              <a:path h="12053949" w="7539197">
                <a:moveTo>
                  <a:pt x="0" y="0"/>
                </a:moveTo>
                <a:lnTo>
                  <a:pt x="7539196" y="0"/>
                </a:lnTo>
                <a:lnTo>
                  <a:pt x="7539196" y="12053948"/>
                </a:lnTo>
                <a:lnTo>
                  <a:pt x="0" y="120539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00425" y="2828925"/>
            <a:ext cx="10611538" cy="461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Project Context and Architecture</a:t>
            </a:r>
          </a:p>
          <a:p>
            <a:pPr algn="l">
              <a:lnSpc>
                <a:spcPts val="3359"/>
              </a:lnSpc>
            </a:pPr>
          </a:p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Inputs, Outputs, and Constraints Compliance</a:t>
            </a:r>
          </a:p>
          <a:p>
            <a:pPr algn="l">
              <a:lnSpc>
                <a:spcPts val="3359"/>
              </a:lnSpc>
            </a:pPr>
          </a:p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Implementation Deep Dive (Maze, Loop, AI, Combat, Persistence)</a:t>
            </a:r>
          </a:p>
          <a:p>
            <a:pPr algn="l">
              <a:lnSpc>
                <a:spcPts val="3359"/>
              </a:lnSpc>
            </a:pPr>
          </a:p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Development Process, Challenges, and Team Contribution</a:t>
            </a:r>
          </a:p>
          <a:p>
            <a:pPr algn="l">
              <a:lnSpc>
                <a:spcPts val="3359"/>
              </a:lnSpc>
            </a:pPr>
          </a:p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Key Learnings, Build Instructions, and 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64365" y="707506"/>
            <a:ext cx="2959270" cy="84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2"/>
              </a:lnSpc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233685" y="1375225"/>
            <a:ext cx="3688281" cy="5896961"/>
          </a:xfrm>
          <a:custGeom>
            <a:avLst/>
            <a:gdLst/>
            <a:ahLst/>
            <a:cxnLst/>
            <a:rect r="r" b="b" t="t" l="l"/>
            <a:pathLst>
              <a:path h="5896961" w="3688281">
                <a:moveTo>
                  <a:pt x="0" y="0"/>
                </a:moveTo>
                <a:lnTo>
                  <a:pt x="3688281" y="0"/>
                </a:lnTo>
                <a:lnTo>
                  <a:pt x="3688281" y="5896961"/>
                </a:lnTo>
                <a:lnTo>
                  <a:pt x="0" y="5896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2040426" y="1375225"/>
            <a:ext cx="3688281" cy="5896961"/>
          </a:xfrm>
          <a:custGeom>
            <a:avLst/>
            <a:gdLst/>
            <a:ahLst/>
            <a:cxnLst/>
            <a:rect r="r" b="b" t="t" l="l"/>
            <a:pathLst>
              <a:path h="5896961" w="3688281">
                <a:moveTo>
                  <a:pt x="0" y="0"/>
                </a:moveTo>
                <a:lnTo>
                  <a:pt x="3688282" y="0"/>
                </a:lnTo>
                <a:lnTo>
                  <a:pt x="3688282" y="5896961"/>
                </a:lnTo>
                <a:lnTo>
                  <a:pt x="0" y="5896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77043" y="6539321"/>
            <a:ext cx="8299467" cy="3559950"/>
            <a:chOff x="0" y="0"/>
            <a:chExt cx="2185868" cy="937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5868" cy="937600"/>
            </a:xfrm>
            <a:custGeom>
              <a:avLst/>
              <a:gdLst/>
              <a:ahLst/>
              <a:cxnLst/>
              <a:rect r="r" b="b" t="t" l="l"/>
              <a:pathLst>
                <a:path h="937600" w="2185868">
                  <a:moveTo>
                    <a:pt x="8395" y="0"/>
                  </a:moveTo>
                  <a:lnTo>
                    <a:pt x="2177473" y="0"/>
                  </a:lnTo>
                  <a:cubicBezTo>
                    <a:pt x="2179699" y="0"/>
                    <a:pt x="2181834" y="885"/>
                    <a:pt x="2183409" y="2459"/>
                  </a:cubicBezTo>
                  <a:cubicBezTo>
                    <a:pt x="2184983" y="4033"/>
                    <a:pt x="2185868" y="6169"/>
                    <a:pt x="2185868" y="8395"/>
                  </a:cubicBezTo>
                  <a:lnTo>
                    <a:pt x="2185868" y="929205"/>
                  </a:lnTo>
                  <a:cubicBezTo>
                    <a:pt x="2185868" y="931431"/>
                    <a:pt x="2184983" y="933567"/>
                    <a:pt x="2183409" y="935141"/>
                  </a:cubicBezTo>
                  <a:cubicBezTo>
                    <a:pt x="2181834" y="936715"/>
                    <a:pt x="2179699" y="937600"/>
                    <a:pt x="2177473" y="937600"/>
                  </a:cubicBezTo>
                  <a:lnTo>
                    <a:pt x="8395" y="937600"/>
                  </a:lnTo>
                  <a:cubicBezTo>
                    <a:pt x="3759" y="937600"/>
                    <a:pt x="0" y="933841"/>
                    <a:pt x="0" y="929205"/>
                  </a:cubicBezTo>
                  <a:lnTo>
                    <a:pt x="0" y="8395"/>
                  </a:lnTo>
                  <a:cubicBezTo>
                    <a:pt x="0" y="6169"/>
                    <a:pt x="885" y="4033"/>
                    <a:pt x="2459" y="2459"/>
                  </a:cubicBezTo>
                  <a:cubicBezTo>
                    <a:pt x="4033" y="885"/>
                    <a:pt x="6169" y="0"/>
                    <a:pt x="83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85868" cy="947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--- ABYSS WALKER ---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Steps taken: 0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Controls: w, a, s, d. f=fire, v=save, l=load, q=quit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Weapon: None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# # # # # # # # # # # # # # # # # # #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# @                    #          #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#    # # # ## # # #    #    #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#    ##              M #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# # # # # # # # # # # # # # # # # # #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682360"/>
            <a:ext cx="9274272" cy="84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2"/>
              </a:lnSpc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1.PROJECT CONTEXT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5427" y="3157206"/>
            <a:ext cx="4804798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Offline 2D tactical roguelike built in strcit C90.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Focuses on Prcedural generatioin, state-driven gameplay, parsing, and file I/O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20875" y="1884419"/>
            <a:ext cx="4929799" cy="59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48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PROJECT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76996" y="3374429"/>
            <a:ext cx="5782304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Navigate a generated maze, 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avoid or eliminate the monster,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reach exit with minimum steps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03249" y="1884419"/>
            <a:ext cx="4929799" cy="112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48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GAMEPLAY GOAL</a:t>
            </a:r>
          </a:p>
          <a:p>
            <a:pPr algn="l">
              <a:lnSpc>
                <a:spcPts val="422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101294" y="6012322"/>
            <a:ext cx="4085413" cy="39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32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TERMINAL SNAPSHOT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164429" y="2344407"/>
            <a:ext cx="1643269" cy="2627320"/>
          </a:xfrm>
          <a:custGeom>
            <a:avLst/>
            <a:gdLst/>
            <a:ahLst/>
            <a:cxnLst/>
            <a:rect r="r" b="b" t="t" l="l"/>
            <a:pathLst>
              <a:path h="2627320" w="1643269">
                <a:moveTo>
                  <a:pt x="0" y="0"/>
                </a:moveTo>
                <a:lnTo>
                  <a:pt x="1643269" y="0"/>
                </a:lnTo>
                <a:lnTo>
                  <a:pt x="1643269" y="2627320"/>
                </a:lnTo>
                <a:lnTo>
                  <a:pt x="0" y="262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6257887" y="2344407"/>
            <a:ext cx="1643269" cy="2627320"/>
          </a:xfrm>
          <a:custGeom>
            <a:avLst/>
            <a:gdLst/>
            <a:ahLst/>
            <a:cxnLst/>
            <a:rect r="r" b="b" t="t" l="l"/>
            <a:pathLst>
              <a:path h="2627320" w="1643269">
                <a:moveTo>
                  <a:pt x="0" y="0"/>
                </a:moveTo>
                <a:lnTo>
                  <a:pt x="1643269" y="0"/>
                </a:lnTo>
                <a:lnTo>
                  <a:pt x="1643269" y="2627320"/>
                </a:lnTo>
                <a:lnTo>
                  <a:pt x="0" y="262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0351344" y="2344407"/>
            <a:ext cx="1643269" cy="2627320"/>
          </a:xfrm>
          <a:custGeom>
            <a:avLst/>
            <a:gdLst/>
            <a:ahLst/>
            <a:cxnLst/>
            <a:rect r="r" b="b" t="t" l="l"/>
            <a:pathLst>
              <a:path h="2627320" w="1643269">
                <a:moveTo>
                  <a:pt x="0" y="0"/>
                </a:moveTo>
                <a:lnTo>
                  <a:pt x="1643269" y="0"/>
                </a:lnTo>
                <a:lnTo>
                  <a:pt x="1643269" y="2627320"/>
                </a:lnTo>
                <a:lnTo>
                  <a:pt x="0" y="262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4444802" y="2344407"/>
            <a:ext cx="1643269" cy="2627320"/>
          </a:xfrm>
          <a:custGeom>
            <a:avLst/>
            <a:gdLst/>
            <a:ahLst/>
            <a:cxnLst/>
            <a:rect r="r" b="b" t="t" l="l"/>
            <a:pathLst>
              <a:path h="2627320" w="1643269">
                <a:moveTo>
                  <a:pt x="0" y="0"/>
                </a:moveTo>
                <a:lnTo>
                  <a:pt x="1643269" y="0"/>
                </a:lnTo>
                <a:lnTo>
                  <a:pt x="1643269" y="2627320"/>
                </a:lnTo>
                <a:lnTo>
                  <a:pt x="0" y="262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4444802" y="4904543"/>
            <a:ext cx="1643269" cy="2627320"/>
          </a:xfrm>
          <a:custGeom>
            <a:avLst/>
            <a:gdLst/>
            <a:ahLst/>
            <a:cxnLst/>
            <a:rect r="r" b="b" t="t" l="l"/>
            <a:pathLst>
              <a:path h="2627320" w="1643269">
                <a:moveTo>
                  <a:pt x="0" y="0"/>
                </a:moveTo>
                <a:lnTo>
                  <a:pt x="1643269" y="0"/>
                </a:lnTo>
                <a:lnTo>
                  <a:pt x="1643269" y="2627320"/>
                </a:lnTo>
                <a:lnTo>
                  <a:pt x="0" y="262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0383328" y="4904543"/>
            <a:ext cx="1643269" cy="2627320"/>
          </a:xfrm>
          <a:custGeom>
            <a:avLst/>
            <a:gdLst/>
            <a:ahLst/>
            <a:cxnLst/>
            <a:rect r="r" b="b" t="t" l="l"/>
            <a:pathLst>
              <a:path h="2627320" w="1643269">
                <a:moveTo>
                  <a:pt x="0" y="0"/>
                </a:moveTo>
                <a:lnTo>
                  <a:pt x="1643269" y="0"/>
                </a:lnTo>
                <a:lnTo>
                  <a:pt x="1643269" y="2627320"/>
                </a:lnTo>
                <a:lnTo>
                  <a:pt x="0" y="262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6257887" y="4904543"/>
            <a:ext cx="1643269" cy="2627320"/>
          </a:xfrm>
          <a:custGeom>
            <a:avLst/>
            <a:gdLst/>
            <a:ahLst/>
            <a:cxnLst/>
            <a:rect r="r" b="b" t="t" l="l"/>
            <a:pathLst>
              <a:path h="2627320" w="1643269">
                <a:moveTo>
                  <a:pt x="0" y="0"/>
                </a:moveTo>
                <a:lnTo>
                  <a:pt x="1643269" y="0"/>
                </a:lnTo>
                <a:lnTo>
                  <a:pt x="1643269" y="2627320"/>
                </a:lnTo>
                <a:lnTo>
                  <a:pt x="0" y="262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682360"/>
            <a:ext cx="11322380" cy="84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89827" indent="-744913" lvl="1">
              <a:lnSpc>
                <a:spcPts val="6072"/>
              </a:lnSpc>
              <a:buAutoNum type="arabicPeriod" startAt="1"/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SYSTEM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36772" y="5974555"/>
            <a:ext cx="3393718" cy="31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2600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LEADERBOARD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58068" y="5902962"/>
            <a:ext cx="3393718" cy="6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2600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SAVE/LOAD</a:t>
            </a:r>
          </a:p>
          <a:p>
            <a:pPr algn="l">
              <a:lnSpc>
                <a:spcPts val="2288"/>
              </a:lnSpc>
            </a:pPr>
            <a:r>
              <a:rPr lang="en-US" sz="2600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VALIDATION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64382" y="6027090"/>
            <a:ext cx="3393718" cy="31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2600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ENEMY BFS 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8945" y="3403214"/>
            <a:ext cx="3393718" cy="31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2600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CONFIG.TXT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82663" y="3260339"/>
            <a:ext cx="3393718" cy="6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8"/>
              </a:lnSpc>
            </a:pPr>
            <a:r>
              <a:rPr lang="en-US" sz="2600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MAZE</a:t>
            </a:r>
          </a:p>
          <a:p>
            <a:pPr algn="ctr">
              <a:lnSpc>
                <a:spcPts val="2288"/>
              </a:lnSpc>
            </a:pPr>
            <a:r>
              <a:rPr lang="en-US" sz="2600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GENERATION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51943" y="3403214"/>
            <a:ext cx="1842071" cy="31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2600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GAME LOOP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10075" y="3252797"/>
            <a:ext cx="2912722" cy="8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8"/>
              </a:lnSpc>
            </a:pPr>
            <a:r>
              <a:rPr lang="en-US" sz="2600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RENDER </a:t>
            </a:r>
          </a:p>
          <a:p>
            <a:pPr algn="ctr">
              <a:lnSpc>
                <a:spcPts val="2288"/>
              </a:lnSpc>
            </a:pPr>
            <a:r>
              <a:rPr lang="en-US" sz="2600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+ </a:t>
            </a:r>
          </a:p>
          <a:p>
            <a:pPr algn="ctr">
              <a:lnSpc>
                <a:spcPts val="2288"/>
              </a:lnSpc>
            </a:pPr>
            <a:r>
              <a:rPr lang="en-US" sz="2600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COMMANDS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4299724" y="3658067"/>
            <a:ext cx="128505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flipV="true">
            <a:off x="8501472" y="3658067"/>
            <a:ext cx="128505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 flipV="true">
            <a:off x="12577180" y="3658067"/>
            <a:ext cx="128505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" id="21"/>
          <p:cNvSpPr/>
          <p:nvPr/>
        </p:nvSpPr>
        <p:spPr>
          <a:xfrm flipH="true">
            <a:off x="12577180" y="6146610"/>
            <a:ext cx="128505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 flipH="true">
            <a:off x="8501472" y="6127560"/>
            <a:ext cx="128505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5247386" y="4466308"/>
            <a:ext cx="0" cy="93026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1449858" y="7582762"/>
            <a:ext cx="15130239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2D grid map stored in fixed-size character arrays</a:t>
            </a:r>
          </a:p>
          <a:p>
            <a:pPr algn="l">
              <a:lnSpc>
                <a:spcPts val="2759"/>
              </a:lnSpc>
            </a:pP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Turn-based loop handles movement, combat, save/load, and quit commands</a:t>
            </a:r>
          </a:p>
          <a:p>
            <a:pPr algn="l">
              <a:lnSpc>
                <a:spcPts val="2759"/>
              </a:lnSpc>
            </a:pP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Modules split by concern: map, enemy, config parser, persistence, UI loop</a:t>
            </a:r>
          </a:p>
          <a:p>
            <a:pPr algn="l">
              <a:lnSpc>
                <a:spcPts val="2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8393" y="2966406"/>
            <a:ext cx="3059013" cy="4890863"/>
          </a:xfrm>
          <a:custGeom>
            <a:avLst/>
            <a:gdLst/>
            <a:ahLst/>
            <a:cxnLst/>
            <a:rect r="r" b="b" t="t" l="l"/>
            <a:pathLst>
              <a:path h="4890863" w="3059013">
                <a:moveTo>
                  <a:pt x="0" y="0"/>
                </a:moveTo>
                <a:lnTo>
                  <a:pt x="3059013" y="0"/>
                </a:lnTo>
                <a:lnTo>
                  <a:pt x="3059013" y="4890863"/>
                </a:lnTo>
                <a:lnTo>
                  <a:pt x="0" y="4890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82360"/>
            <a:ext cx="17063291" cy="84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89827" indent="-744913" lvl="1">
              <a:lnSpc>
                <a:spcPts val="6072"/>
              </a:lnSpc>
              <a:buAutoNum type="arabicPeriod" startAt="1"/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INPUTS, OUTPUTS &amp; DELIVERABLES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5381" y="4264930"/>
            <a:ext cx="3985037" cy="241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config.txt: generation parameters</a:t>
            </a:r>
          </a:p>
          <a:p>
            <a:pPr algn="l">
              <a:lnSpc>
                <a:spcPts val="2429"/>
              </a:lnSpc>
            </a:pPr>
          </a:p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maze.sav: binary game state</a:t>
            </a:r>
          </a:p>
          <a:p>
            <a:pPr algn="l">
              <a:lnSpc>
                <a:spcPts val="2429"/>
              </a:lnSpc>
            </a:pPr>
          </a:p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leaderboard.csv: score history</a:t>
            </a:r>
          </a:p>
          <a:p>
            <a:pPr algn="l">
              <a:lnSpc>
                <a:spcPts val="218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98953" y="3382901"/>
            <a:ext cx="4088712" cy="49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9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INPUTS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7616057" y="3000171"/>
            <a:ext cx="3059013" cy="4890863"/>
          </a:xfrm>
          <a:custGeom>
            <a:avLst/>
            <a:gdLst/>
            <a:ahLst/>
            <a:cxnLst/>
            <a:rect r="r" b="b" t="t" l="l"/>
            <a:pathLst>
              <a:path h="4890863" w="3059013">
                <a:moveTo>
                  <a:pt x="0" y="0"/>
                </a:moveTo>
                <a:lnTo>
                  <a:pt x="3059013" y="0"/>
                </a:lnTo>
                <a:lnTo>
                  <a:pt x="3059013" y="4890863"/>
                </a:lnTo>
                <a:lnTo>
                  <a:pt x="0" y="4890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46141" y="4335513"/>
            <a:ext cx="3985037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Terminal-rendered game frames</a:t>
            </a:r>
          </a:p>
          <a:p>
            <a:pPr algn="l">
              <a:lnSpc>
                <a:spcPts val="2429"/>
              </a:lnSpc>
            </a:pPr>
          </a:p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maze.sav saved state</a:t>
            </a:r>
          </a:p>
          <a:p>
            <a:pPr algn="l">
              <a:lnSpc>
                <a:spcPts val="2429"/>
              </a:lnSpc>
            </a:pPr>
          </a:p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leaderboard.csv sorted scores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56616" y="3416666"/>
            <a:ext cx="4088712" cy="49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9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OUTPUTS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13570594" y="3033936"/>
            <a:ext cx="3059013" cy="4890863"/>
          </a:xfrm>
          <a:custGeom>
            <a:avLst/>
            <a:gdLst/>
            <a:ahLst/>
            <a:cxnLst/>
            <a:rect r="r" b="b" t="t" l="l"/>
            <a:pathLst>
              <a:path h="4890863" w="3059013">
                <a:moveTo>
                  <a:pt x="0" y="0"/>
                </a:moveTo>
                <a:lnTo>
                  <a:pt x="3059013" y="0"/>
                </a:lnTo>
                <a:lnTo>
                  <a:pt x="3059013" y="4890863"/>
                </a:lnTo>
                <a:lnTo>
                  <a:pt x="0" y="4890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200720" y="4231165"/>
            <a:ext cx="3985037" cy="241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 source modules</a:t>
            </a:r>
          </a:p>
          <a:p>
            <a:pPr algn="l">
              <a:lnSpc>
                <a:spcPts val="2429"/>
              </a:lnSpc>
            </a:pPr>
          </a:p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game.h interface</a:t>
            </a:r>
          </a:p>
          <a:p>
            <a:pPr algn="l">
              <a:lnSpc>
                <a:spcPts val="2429"/>
              </a:lnSpc>
            </a:pPr>
          </a:p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Makefile + README</a:t>
            </a:r>
          </a:p>
          <a:p>
            <a:pPr algn="l">
              <a:lnSpc>
                <a:spcPts val="2429"/>
              </a:lnSpc>
            </a:pPr>
          </a:p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Report + GitHub repository</a:t>
            </a:r>
          </a:p>
          <a:p>
            <a:pPr algn="l">
              <a:lnSpc>
                <a:spcPts val="218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311153" y="3450431"/>
            <a:ext cx="4088712" cy="49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9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DELIVERABLES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789837" y="1733239"/>
            <a:ext cx="5418776" cy="8663740"/>
          </a:xfrm>
          <a:custGeom>
            <a:avLst/>
            <a:gdLst/>
            <a:ahLst/>
            <a:cxnLst/>
            <a:rect r="r" b="b" t="t" l="l"/>
            <a:pathLst>
              <a:path h="8663740" w="5418776">
                <a:moveTo>
                  <a:pt x="0" y="0"/>
                </a:moveTo>
                <a:lnTo>
                  <a:pt x="5418775" y="0"/>
                </a:lnTo>
                <a:lnTo>
                  <a:pt x="5418775" y="8663740"/>
                </a:lnTo>
                <a:lnTo>
                  <a:pt x="0" y="8663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997388" y="2871918"/>
            <a:ext cx="9168362" cy="6386382"/>
            <a:chOff x="0" y="0"/>
            <a:chExt cx="2414713" cy="16820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4713" cy="1682010"/>
            </a:xfrm>
            <a:custGeom>
              <a:avLst/>
              <a:gdLst/>
              <a:ahLst/>
              <a:cxnLst/>
              <a:rect r="r" b="b" t="t" l="l"/>
              <a:pathLst>
                <a:path h="1682010" w="2414713">
                  <a:moveTo>
                    <a:pt x="7600" y="0"/>
                  </a:moveTo>
                  <a:lnTo>
                    <a:pt x="2407113" y="0"/>
                  </a:lnTo>
                  <a:cubicBezTo>
                    <a:pt x="2409129" y="0"/>
                    <a:pt x="2411062" y="801"/>
                    <a:pt x="2412487" y="2226"/>
                  </a:cubicBezTo>
                  <a:cubicBezTo>
                    <a:pt x="2413912" y="3651"/>
                    <a:pt x="2414713" y="5584"/>
                    <a:pt x="2414713" y="7600"/>
                  </a:cubicBezTo>
                  <a:lnTo>
                    <a:pt x="2414713" y="1674410"/>
                  </a:lnTo>
                  <a:cubicBezTo>
                    <a:pt x="2414713" y="1678608"/>
                    <a:pt x="2411310" y="1682010"/>
                    <a:pt x="2407113" y="1682010"/>
                  </a:cubicBezTo>
                  <a:lnTo>
                    <a:pt x="7600" y="1682010"/>
                  </a:lnTo>
                  <a:cubicBezTo>
                    <a:pt x="3403" y="1682010"/>
                    <a:pt x="0" y="1678608"/>
                    <a:pt x="0" y="1674410"/>
                  </a:cubicBezTo>
                  <a:lnTo>
                    <a:pt x="0" y="7600"/>
                  </a:lnTo>
                  <a:cubicBezTo>
                    <a:pt x="0" y="3403"/>
                    <a:pt x="3403" y="0"/>
                    <a:pt x="7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414713" cy="16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int load_config(const char *filename) {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...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while (fgets(line, sizeof(line), f)) {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content = skip_spaces(line);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if (*content == '#' || *content == '\n' || *content == '\0')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continue;</a:t>
              </a:r>
            </a:p>
            <a:p>
              <a:pPr algn="l">
                <a:lnSpc>
                  <a:spcPts val="2040"/>
                </a:lnSpc>
              </a:pP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equals_sign = strchr(content, '=');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if (equals_sign == NULL) { had_error = 1; continue; }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if (strchr(equals_sign + 1, '=') != NULL) { had_error = 1; continue; }</a:t>
              </a:r>
            </a:p>
            <a:p>
              <a:pPr algn="l">
                <a:lnSpc>
                  <a:spcPts val="2040"/>
                </a:lnSpc>
              </a:pP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*equals_sign = '\0';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key = skip_spaces(content);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value_text = skip_spaces(equals_sign + 1);</a:t>
              </a:r>
            </a:p>
            <a:p>
              <a:pPr algn="l">
                <a:lnSpc>
                  <a:spcPts val="2040"/>
                </a:lnSpc>
              </a:pP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if (!parse_int_value(value_text, &amp;value)) { had_error = 1; continue; }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... // validate width/height/seed/density ranges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}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if (had_error) return 0;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config = parsed_config;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return 1;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}</a:t>
              </a:r>
            </a:p>
            <a:p>
              <a:pPr algn="l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7355" y="707506"/>
            <a:ext cx="18397665" cy="84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89827" indent="-744913" lvl="1">
              <a:lnSpc>
                <a:spcPts val="6072"/>
              </a:lnSpc>
              <a:buAutoNum type="arabicPeriod" startAt="1"/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HOW WE WORKED WITH THE CONSTRAINTS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7564" y="3790283"/>
            <a:ext cx="7546153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Clean C programming with modular files and shared header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Both text I/O (config, leaderboard) and binary I/O (save file)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Custom key=value parser with robust error reporting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Explicit GameState machine for control flow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No external libraries: only standard C headers</a:t>
            </a: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880214" y="2240325"/>
            <a:ext cx="4085413" cy="39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32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CONFIG.C PARSER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599256" y="3623918"/>
            <a:ext cx="4317174" cy="6902459"/>
          </a:xfrm>
          <a:custGeom>
            <a:avLst/>
            <a:gdLst/>
            <a:ahLst/>
            <a:cxnLst/>
            <a:rect r="r" b="b" t="t" l="l"/>
            <a:pathLst>
              <a:path h="6902459" w="4317174">
                <a:moveTo>
                  <a:pt x="0" y="0"/>
                </a:moveTo>
                <a:lnTo>
                  <a:pt x="4317175" y="0"/>
                </a:lnTo>
                <a:lnTo>
                  <a:pt x="4317175" y="6902459"/>
                </a:lnTo>
                <a:lnTo>
                  <a:pt x="0" y="6902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483594" y="3972755"/>
            <a:ext cx="8439111" cy="6204784"/>
            <a:chOff x="0" y="0"/>
            <a:chExt cx="2222647" cy="16341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2647" cy="1634182"/>
            </a:xfrm>
            <a:custGeom>
              <a:avLst/>
              <a:gdLst/>
              <a:ahLst/>
              <a:cxnLst/>
              <a:rect r="r" b="b" t="t" l="l"/>
              <a:pathLst>
                <a:path h="1634182" w="2222647">
                  <a:moveTo>
                    <a:pt x="8256" y="0"/>
                  </a:moveTo>
                  <a:lnTo>
                    <a:pt x="2214390" y="0"/>
                  </a:lnTo>
                  <a:cubicBezTo>
                    <a:pt x="2218950" y="0"/>
                    <a:pt x="2222647" y="3697"/>
                    <a:pt x="2222647" y="8256"/>
                  </a:cubicBezTo>
                  <a:lnTo>
                    <a:pt x="2222647" y="1625925"/>
                  </a:lnTo>
                  <a:cubicBezTo>
                    <a:pt x="2222647" y="1628115"/>
                    <a:pt x="2221777" y="1630215"/>
                    <a:pt x="2220228" y="1631764"/>
                  </a:cubicBezTo>
                  <a:cubicBezTo>
                    <a:pt x="2218680" y="1633312"/>
                    <a:pt x="2216580" y="1634182"/>
                    <a:pt x="2214390" y="1634182"/>
                  </a:cubicBezTo>
                  <a:lnTo>
                    <a:pt x="8256" y="1634182"/>
                  </a:lnTo>
                  <a:cubicBezTo>
                    <a:pt x="6067" y="1634182"/>
                    <a:pt x="3967" y="1633312"/>
                    <a:pt x="2418" y="1631764"/>
                  </a:cubicBezTo>
                  <a:cubicBezTo>
                    <a:pt x="870" y="1630215"/>
                    <a:pt x="0" y="1628115"/>
                    <a:pt x="0" y="1625925"/>
                  </a:cubicBezTo>
                  <a:lnTo>
                    <a:pt x="0" y="8256"/>
                  </a:lnTo>
                  <a:cubicBezTo>
                    <a:pt x="0" y="6067"/>
                    <a:pt x="870" y="3967"/>
                    <a:pt x="2418" y="2418"/>
                  </a:cubicBezTo>
                  <a:cubicBezTo>
                    <a:pt x="3967" y="870"/>
                    <a:pt x="6067" y="0"/>
                    <a:pt x="82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22647" cy="1643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i/* map.c: DFS recursive backtracker */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while (top &gt;= 0)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cx = stack_x[top];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cy = stack_y[top];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neighbor_count = 0;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for (i = 0; i &lt; 4; i++)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nx = cx + dx[i];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ny = cy + dy[i];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<![CDATA[       if (nx >= 0 && nx < cw && ny >= 0 && ny < ch && !visited[ny][nx])]]>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dirs[neighbor_count++] = i;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}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if (neighbor_count == 0)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top--; // backtrack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} else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shuffle(dirs);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carve_passage(cx, cy, nx, ny);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visited[ny][nx] = 1;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stack_x[++top] = nx;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stack_y[top] = ny;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}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}</a:t>
              </a:r>
            </a:p>
            <a:p>
              <a:pPr algn="l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94898" y="707506"/>
            <a:ext cx="18397665" cy="84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2"/>
              </a:lnSpc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5.1 MAZE GENERATION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10529" y="5382652"/>
            <a:ext cx="5094629" cy="300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DFS recursive backtracker on logical cell grid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Each logical cell expands to larger displayed tile region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Density parameter removes walls to create shortcuts</a:t>
            </a: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167259" y="3533578"/>
            <a:ext cx="4085413" cy="36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30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MAP.C DFS CORE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1342372" y="1565300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4817921" y="1565300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8293469" y="1565300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1769018" y="1565300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93377" y="2466257"/>
            <a:ext cx="2881435" cy="26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INIT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74812" y="2344949"/>
            <a:ext cx="2881435" cy="50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FIND 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NEIGHBOURS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09073" y="2466257"/>
            <a:ext cx="1564009" cy="50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CARVE</a:t>
            </a:r>
          </a:p>
          <a:p>
            <a:pPr algn="l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PASSAGE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30104" y="2338545"/>
            <a:ext cx="2473046" cy="50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PUSH/POP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STACK</a:t>
            </a:r>
          </a:p>
        </p:txBody>
      </p:sp>
      <p:sp>
        <p:nvSpPr>
          <p:cNvPr name="AutoShape 18" id="18"/>
          <p:cNvSpPr/>
          <p:nvPr/>
        </p:nvSpPr>
        <p:spPr>
          <a:xfrm>
            <a:off x="3155343" y="2680662"/>
            <a:ext cx="124482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6722836" y="2680662"/>
            <a:ext cx="109107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10183314" y="2680662"/>
            <a:ext cx="109107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1" id="21"/>
          <p:cNvSpPr/>
          <p:nvPr/>
        </p:nvSpPr>
        <p:spPr>
          <a:xfrm flipH="false" flipV="false" rot="-5400000">
            <a:off x="15288853" y="1565300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749939" y="2459853"/>
            <a:ext cx="2473046" cy="26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DONE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3703150" y="2680662"/>
            <a:ext cx="109107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266559" y="3488138"/>
            <a:ext cx="4699775" cy="7514175"/>
          </a:xfrm>
          <a:custGeom>
            <a:avLst/>
            <a:gdLst/>
            <a:ahLst/>
            <a:cxnLst/>
            <a:rect r="r" b="b" t="t" l="l"/>
            <a:pathLst>
              <a:path h="7514175" w="4699775">
                <a:moveTo>
                  <a:pt x="0" y="0"/>
                </a:moveTo>
                <a:lnTo>
                  <a:pt x="4699775" y="0"/>
                </a:lnTo>
                <a:lnTo>
                  <a:pt x="4699775" y="7514176"/>
                </a:lnTo>
                <a:lnTo>
                  <a:pt x="0" y="7514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561857" y="2965871"/>
            <a:ext cx="6499614" cy="6442909"/>
            <a:chOff x="0" y="0"/>
            <a:chExt cx="1711833" cy="16968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11833" cy="1696898"/>
            </a:xfrm>
            <a:custGeom>
              <a:avLst/>
              <a:gdLst/>
              <a:ahLst/>
              <a:cxnLst/>
              <a:rect r="r" b="b" t="t" l="l"/>
              <a:pathLst>
                <a:path h="1696898" w="1711833">
                  <a:moveTo>
                    <a:pt x="10720" y="0"/>
                  </a:moveTo>
                  <a:lnTo>
                    <a:pt x="1701112" y="0"/>
                  </a:lnTo>
                  <a:cubicBezTo>
                    <a:pt x="1703955" y="0"/>
                    <a:pt x="1706682" y="1129"/>
                    <a:pt x="1708693" y="3140"/>
                  </a:cubicBezTo>
                  <a:cubicBezTo>
                    <a:pt x="1710703" y="5150"/>
                    <a:pt x="1711833" y="7877"/>
                    <a:pt x="1711833" y="10720"/>
                  </a:cubicBezTo>
                  <a:lnTo>
                    <a:pt x="1711833" y="1686178"/>
                  </a:lnTo>
                  <a:cubicBezTo>
                    <a:pt x="1711833" y="1692098"/>
                    <a:pt x="1707033" y="1696898"/>
                    <a:pt x="1701112" y="1696898"/>
                  </a:cubicBezTo>
                  <a:lnTo>
                    <a:pt x="10720" y="1696898"/>
                  </a:lnTo>
                  <a:cubicBezTo>
                    <a:pt x="7877" y="1696898"/>
                    <a:pt x="5150" y="1695769"/>
                    <a:pt x="3140" y="1693758"/>
                  </a:cubicBezTo>
                  <a:cubicBezTo>
                    <a:pt x="1129" y="1691748"/>
                    <a:pt x="0" y="1689021"/>
                    <a:pt x="0" y="1686178"/>
                  </a:cubicBezTo>
                  <a:lnTo>
                    <a:pt x="0" y="10720"/>
                  </a:lnTo>
                  <a:cubicBezTo>
                    <a:pt x="0" y="7877"/>
                    <a:pt x="1129" y="5150"/>
                    <a:pt x="3140" y="3140"/>
                  </a:cubicBezTo>
                  <a:cubicBezTo>
                    <a:pt x="5150" y="1129"/>
                    <a:pt x="7877" y="0"/>
                    <a:pt x="107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711833" cy="1706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static int bfs_next_step(int sx, int sy, int gx, int gy,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             int *next_x, int *next_y)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came_from[sy][sx] = 4;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enqueue(sx, sy);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while (front &lt; back)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x = queue_x[front]; y = queue_y[front++];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if (x == gx &amp;&amp; y == gy)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while (1)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    i = came_from[y][x];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    if (x - dx[i] == sx &amp;&amp; y - dy[i] == sy)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        *next_x = x; *next_y = y; return 1;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    }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    x -= dx[i]; y -= dy[i];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}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}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expand_4_neighbors();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}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return 0;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}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}</a:t>
              </a:r>
            </a:p>
            <a:p>
              <a:pPr algn="l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24222" y="602654"/>
            <a:ext cx="18397665" cy="84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2"/>
              </a:lnSpc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5.3 ENEMY BEHAVIOUR (BFS PATHFINDING)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29605" y="5251714"/>
            <a:ext cx="6510571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BFS returns the first step on shortest path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Prevents monster from getting stuck behind walls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Patrol target is randomized on reachable floor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monster_dead flag disables movement after kill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173887" y="2354163"/>
            <a:ext cx="4085413" cy="36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30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ENEMY.C BFS CORE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1034534" y="2384123"/>
            <a:ext cx="1134320" cy="1813593"/>
          </a:xfrm>
          <a:custGeom>
            <a:avLst/>
            <a:gdLst/>
            <a:ahLst/>
            <a:cxnLst/>
            <a:rect r="r" b="b" t="t" l="l"/>
            <a:pathLst>
              <a:path h="1813593" w="1134320">
                <a:moveTo>
                  <a:pt x="0" y="0"/>
                </a:moveTo>
                <a:lnTo>
                  <a:pt x="1134320" y="0"/>
                </a:lnTo>
                <a:lnTo>
                  <a:pt x="1134320" y="1813593"/>
                </a:lnTo>
                <a:lnTo>
                  <a:pt x="0" y="1813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3860177" y="2384123"/>
            <a:ext cx="1134320" cy="1813593"/>
          </a:xfrm>
          <a:custGeom>
            <a:avLst/>
            <a:gdLst/>
            <a:ahLst/>
            <a:cxnLst/>
            <a:rect r="r" b="b" t="t" l="l"/>
            <a:pathLst>
              <a:path h="1813593" w="1134320">
                <a:moveTo>
                  <a:pt x="0" y="0"/>
                </a:moveTo>
                <a:lnTo>
                  <a:pt x="1134320" y="0"/>
                </a:lnTo>
                <a:lnTo>
                  <a:pt x="1134320" y="1813593"/>
                </a:lnTo>
                <a:lnTo>
                  <a:pt x="0" y="1813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6887528" y="1581681"/>
            <a:ext cx="1134320" cy="1813593"/>
          </a:xfrm>
          <a:custGeom>
            <a:avLst/>
            <a:gdLst/>
            <a:ahLst/>
            <a:cxnLst/>
            <a:rect r="r" b="b" t="t" l="l"/>
            <a:pathLst>
              <a:path h="1813593" w="1134320">
                <a:moveTo>
                  <a:pt x="0" y="0"/>
                </a:moveTo>
                <a:lnTo>
                  <a:pt x="1134320" y="0"/>
                </a:lnTo>
                <a:lnTo>
                  <a:pt x="1134320" y="1813593"/>
                </a:lnTo>
                <a:lnTo>
                  <a:pt x="0" y="1813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9713171" y="1581681"/>
            <a:ext cx="1134320" cy="1813593"/>
          </a:xfrm>
          <a:custGeom>
            <a:avLst/>
            <a:gdLst/>
            <a:ahLst/>
            <a:cxnLst/>
            <a:rect r="r" b="b" t="t" l="l"/>
            <a:pathLst>
              <a:path h="1813593" w="1134320">
                <a:moveTo>
                  <a:pt x="0" y="0"/>
                </a:moveTo>
                <a:lnTo>
                  <a:pt x="1134320" y="0"/>
                </a:lnTo>
                <a:lnTo>
                  <a:pt x="1134320" y="1813593"/>
                </a:lnTo>
                <a:lnTo>
                  <a:pt x="0" y="1813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0266" y="3006194"/>
            <a:ext cx="2342625" cy="61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COMPUTE </a:t>
            </a:r>
          </a:p>
          <a:p>
            <a:pPr algn="l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DISTANCE TO</a:t>
            </a:r>
          </a:p>
          <a:p>
            <a:pPr algn="l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PLAYER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97907" y="3013496"/>
            <a:ext cx="1610979" cy="412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DISTANCE</a:t>
            </a:r>
          </a:p>
          <a:p>
            <a:pPr algn="l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&lt;= 5?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18913" y="2203752"/>
            <a:ext cx="1271550" cy="41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YES:</a:t>
            </a:r>
          </a:p>
          <a:p>
            <a:pPr algn="l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CHASE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75030" y="2203752"/>
            <a:ext cx="2010602" cy="41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BFS TO</a:t>
            </a:r>
          </a:p>
          <a:p>
            <a:pPr algn="ctr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PLAYER</a:t>
            </a:r>
          </a:p>
        </p:txBody>
      </p:sp>
      <p:sp>
        <p:nvSpPr>
          <p:cNvPr name="AutoShape 18" id="18"/>
          <p:cNvSpPr/>
          <p:nvPr/>
        </p:nvSpPr>
        <p:spPr>
          <a:xfrm>
            <a:off x="2508491" y="3290919"/>
            <a:ext cx="101205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flipV="true">
            <a:off x="5539522" y="2435271"/>
            <a:ext cx="802982" cy="37693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8423984" y="2478952"/>
            <a:ext cx="88705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1" id="21"/>
          <p:cNvSpPr/>
          <p:nvPr/>
        </p:nvSpPr>
        <p:spPr>
          <a:xfrm flipH="false" flipV="false" rot="-5400000">
            <a:off x="6887528" y="3049907"/>
            <a:ext cx="1134320" cy="1813593"/>
          </a:xfrm>
          <a:custGeom>
            <a:avLst/>
            <a:gdLst/>
            <a:ahLst/>
            <a:cxnLst/>
            <a:rect r="r" b="b" t="t" l="l"/>
            <a:pathLst>
              <a:path h="1813593" w="1134320">
                <a:moveTo>
                  <a:pt x="0" y="0"/>
                </a:moveTo>
                <a:lnTo>
                  <a:pt x="1134320" y="0"/>
                </a:lnTo>
                <a:lnTo>
                  <a:pt x="1134320" y="1813593"/>
                </a:lnTo>
                <a:lnTo>
                  <a:pt x="0" y="1813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9713171" y="3049907"/>
            <a:ext cx="1134320" cy="1813593"/>
          </a:xfrm>
          <a:custGeom>
            <a:avLst/>
            <a:gdLst/>
            <a:ahLst/>
            <a:cxnLst/>
            <a:rect r="r" b="b" t="t" l="l"/>
            <a:pathLst>
              <a:path h="1813593" w="1134320">
                <a:moveTo>
                  <a:pt x="0" y="0"/>
                </a:moveTo>
                <a:lnTo>
                  <a:pt x="1134320" y="0"/>
                </a:lnTo>
                <a:lnTo>
                  <a:pt x="1134320" y="1813593"/>
                </a:lnTo>
                <a:lnTo>
                  <a:pt x="0" y="1813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818913" y="3671978"/>
            <a:ext cx="1271550" cy="41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NO:</a:t>
            </a:r>
          </a:p>
          <a:p>
            <a:pPr algn="l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PATROL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75030" y="3671978"/>
            <a:ext cx="2010602" cy="61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BFS TO</a:t>
            </a:r>
          </a:p>
          <a:p>
            <a:pPr algn="ctr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PATROL</a:t>
            </a:r>
          </a:p>
          <a:p>
            <a:pPr algn="ctr">
              <a:lnSpc>
                <a:spcPts val="1579"/>
              </a:lnSpc>
            </a:pPr>
            <a:r>
              <a:rPr lang="en-US" sz="1795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TARGET</a:t>
            </a:r>
          </a:p>
        </p:txBody>
      </p:sp>
      <p:sp>
        <p:nvSpPr>
          <p:cNvPr name="AutoShape 25" id="25"/>
          <p:cNvSpPr/>
          <p:nvPr/>
        </p:nvSpPr>
        <p:spPr>
          <a:xfrm>
            <a:off x="5544661" y="3371425"/>
            <a:ext cx="746839" cy="47863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>
            <a:off x="8423984" y="3947179"/>
            <a:ext cx="88705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123209" y="1282239"/>
            <a:ext cx="4105875" cy="6564625"/>
          </a:xfrm>
          <a:custGeom>
            <a:avLst/>
            <a:gdLst/>
            <a:ahLst/>
            <a:cxnLst/>
            <a:rect r="r" b="b" t="t" l="l"/>
            <a:pathLst>
              <a:path h="6564625" w="4105875">
                <a:moveTo>
                  <a:pt x="0" y="0"/>
                </a:moveTo>
                <a:lnTo>
                  <a:pt x="4105874" y="0"/>
                </a:lnTo>
                <a:lnTo>
                  <a:pt x="4105874" y="6564625"/>
                </a:lnTo>
                <a:lnTo>
                  <a:pt x="0" y="6564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832606" y="2897677"/>
            <a:ext cx="6297907" cy="3823534"/>
            <a:chOff x="0" y="0"/>
            <a:chExt cx="1658708" cy="10070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58708" cy="1007021"/>
            </a:xfrm>
            <a:custGeom>
              <a:avLst/>
              <a:gdLst/>
              <a:ahLst/>
              <a:cxnLst/>
              <a:rect r="r" b="b" t="t" l="l"/>
              <a:pathLst>
                <a:path h="1007021" w="1658708">
                  <a:moveTo>
                    <a:pt x="11064" y="0"/>
                  </a:moveTo>
                  <a:lnTo>
                    <a:pt x="1647644" y="0"/>
                  </a:lnTo>
                  <a:cubicBezTo>
                    <a:pt x="1653754" y="0"/>
                    <a:pt x="1658708" y="4953"/>
                    <a:pt x="1658708" y="11064"/>
                  </a:cubicBezTo>
                  <a:lnTo>
                    <a:pt x="1658708" y="995958"/>
                  </a:lnTo>
                  <a:cubicBezTo>
                    <a:pt x="1658708" y="998892"/>
                    <a:pt x="1657542" y="1001706"/>
                    <a:pt x="1655467" y="1003781"/>
                  </a:cubicBezTo>
                  <a:cubicBezTo>
                    <a:pt x="1653393" y="1005856"/>
                    <a:pt x="1650579" y="1007021"/>
                    <a:pt x="1647644" y="1007021"/>
                  </a:cubicBezTo>
                  <a:lnTo>
                    <a:pt x="11064" y="1007021"/>
                  </a:lnTo>
                  <a:cubicBezTo>
                    <a:pt x="8129" y="1007021"/>
                    <a:pt x="5315" y="1005856"/>
                    <a:pt x="3240" y="1003781"/>
                  </a:cubicBezTo>
                  <a:cubicBezTo>
                    <a:pt x="1166" y="1001706"/>
                    <a:pt x="0" y="998892"/>
                    <a:pt x="0" y="995958"/>
                  </a:cubicBezTo>
                  <a:lnTo>
                    <a:pt x="0" y="11064"/>
                  </a:lnTo>
                  <a:cubicBezTo>
                    <a:pt x="0" y="8129"/>
                    <a:pt x="1166" y="5315"/>
                    <a:pt x="3240" y="3240"/>
                  </a:cubicBezTo>
                  <a:cubicBezTo>
                    <a:pt x="5315" y="1166"/>
                    <a:pt x="8129" y="0"/>
                    <a:pt x="11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658708" cy="1016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int check_line_of_sight(void)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if (player.x == enemy.x)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for (i = start + 1; i &lt; end; i++)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if (cave_map[i][player.x] == '#') return 0;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return 1;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} else if (player.y == enemy.y)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for (i = start + 1; i &lt; end; i++)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if (cave_map[player.y][i] == '#') return 0;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return 1;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}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return 0;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}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7370832"/>
            <a:ext cx="1301763" cy="1131087"/>
            <a:chOff x="0" y="0"/>
            <a:chExt cx="342851" cy="297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2851" cy="297900"/>
            </a:xfrm>
            <a:custGeom>
              <a:avLst/>
              <a:gdLst/>
              <a:ahLst/>
              <a:cxnLst/>
              <a:rect r="r" b="b" t="t" l="l"/>
              <a:pathLst>
                <a:path h="297900" w="342851">
                  <a:moveTo>
                    <a:pt x="0" y="0"/>
                  </a:moveTo>
                  <a:lnTo>
                    <a:pt x="342851" y="0"/>
                  </a:lnTo>
                  <a:lnTo>
                    <a:pt x="342851" y="297900"/>
                  </a:lnTo>
                  <a:lnTo>
                    <a:pt x="0" y="29790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04775"/>
              <a:ext cx="342851" cy="193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7"/>
                </a:lnSpc>
              </a:pPr>
              <a:r>
                <a:rPr lang="en-US" sz="3895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P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94898" y="707506"/>
            <a:ext cx="18397665" cy="84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2"/>
              </a:lnSpc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5.4 LINE OF SIGHT &amp; COMBAT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29605" y="2888152"/>
            <a:ext cx="5831879" cy="334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Bow can fire only after pickup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Hit only when player and monster share row/column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Every tile in between must be non-wall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Walls block shot immediately</a:t>
            </a: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382573" y="2346693"/>
            <a:ext cx="4085413" cy="36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30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MAP.C LOS CHECK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655118" y="7370832"/>
            <a:ext cx="1301763" cy="1131087"/>
            <a:chOff x="0" y="0"/>
            <a:chExt cx="342851" cy="297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2851" cy="297900"/>
            </a:xfrm>
            <a:custGeom>
              <a:avLst/>
              <a:gdLst/>
              <a:ahLst/>
              <a:cxnLst/>
              <a:rect r="r" b="b" t="t" l="l"/>
              <a:pathLst>
                <a:path h="297900" w="342851">
                  <a:moveTo>
                    <a:pt x="0" y="0"/>
                  </a:moveTo>
                  <a:lnTo>
                    <a:pt x="342851" y="0"/>
                  </a:lnTo>
                  <a:lnTo>
                    <a:pt x="342851" y="297900"/>
                  </a:lnTo>
                  <a:lnTo>
                    <a:pt x="0" y="29790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04775"/>
              <a:ext cx="342851" cy="193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281535" y="7370832"/>
            <a:ext cx="1301763" cy="1131087"/>
            <a:chOff x="0" y="0"/>
            <a:chExt cx="342851" cy="297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2851" cy="297900"/>
            </a:xfrm>
            <a:custGeom>
              <a:avLst/>
              <a:gdLst/>
              <a:ahLst/>
              <a:cxnLst/>
              <a:rect r="r" b="b" t="t" l="l"/>
              <a:pathLst>
                <a:path h="297900" w="342851">
                  <a:moveTo>
                    <a:pt x="0" y="0"/>
                  </a:moveTo>
                  <a:lnTo>
                    <a:pt x="342851" y="0"/>
                  </a:lnTo>
                  <a:lnTo>
                    <a:pt x="342851" y="297900"/>
                  </a:lnTo>
                  <a:lnTo>
                    <a:pt x="0" y="29790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04775"/>
              <a:ext cx="342851" cy="193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7"/>
                </a:lnSpc>
              </a:pPr>
              <a:r>
                <a:rPr lang="en-US" sz="3895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#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907953" y="7370832"/>
            <a:ext cx="1301763" cy="1131087"/>
            <a:chOff x="0" y="0"/>
            <a:chExt cx="342851" cy="297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2851" cy="297900"/>
            </a:xfrm>
            <a:custGeom>
              <a:avLst/>
              <a:gdLst/>
              <a:ahLst/>
              <a:cxnLst/>
              <a:rect r="r" b="b" t="t" l="l"/>
              <a:pathLst>
                <a:path h="297900" w="342851">
                  <a:moveTo>
                    <a:pt x="0" y="0"/>
                  </a:moveTo>
                  <a:lnTo>
                    <a:pt x="342851" y="0"/>
                  </a:lnTo>
                  <a:lnTo>
                    <a:pt x="342851" y="297900"/>
                  </a:lnTo>
                  <a:lnTo>
                    <a:pt x="0" y="29790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04775"/>
              <a:ext cx="342851" cy="193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534370" y="7370832"/>
            <a:ext cx="1301763" cy="1131087"/>
            <a:chOff x="0" y="0"/>
            <a:chExt cx="342851" cy="2979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2851" cy="297900"/>
            </a:xfrm>
            <a:custGeom>
              <a:avLst/>
              <a:gdLst/>
              <a:ahLst/>
              <a:cxnLst/>
              <a:rect r="r" b="b" t="t" l="l"/>
              <a:pathLst>
                <a:path h="297900" w="342851">
                  <a:moveTo>
                    <a:pt x="0" y="0"/>
                  </a:moveTo>
                  <a:lnTo>
                    <a:pt x="342851" y="0"/>
                  </a:lnTo>
                  <a:lnTo>
                    <a:pt x="342851" y="297900"/>
                  </a:lnTo>
                  <a:lnTo>
                    <a:pt x="0" y="29790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04775"/>
              <a:ext cx="342851" cy="193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7"/>
                </a:lnSpc>
              </a:pPr>
              <a:r>
                <a:rPr lang="en-US" sz="3895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M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33162" y="7361307"/>
            <a:ext cx="5831879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Example: P and M aligned, but wall (#) blocks line of sight.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check_line_of_sight() returns 0.</a:t>
            </a:r>
          </a:p>
          <a:p>
            <a:pPr algn="l">
              <a:lnSpc>
                <a:spcPts val="263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599256" y="3623918"/>
            <a:ext cx="4317174" cy="6902459"/>
          </a:xfrm>
          <a:custGeom>
            <a:avLst/>
            <a:gdLst/>
            <a:ahLst/>
            <a:cxnLst/>
            <a:rect r="r" b="b" t="t" l="l"/>
            <a:pathLst>
              <a:path h="6902459" w="4317174">
                <a:moveTo>
                  <a:pt x="0" y="0"/>
                </a:moveTo>
                <a:lnTo>
                  <a:pt x="4317175" y="0"/>
                </a:lnTo>
                <a:lnTo>
                  <a:pt x="4317175" y="6902459"/>
                </a:lnTo>
                <a:lnTo>
                  <a:pt x="0" y="6902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390498" y="4973121"/>
            <a:ext cx="8439111" cy="4204053"/>
            <a:chOff x="0" y="0"/>
            <a:chExt cx="2222647" cy="1107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2647" cy="1107240"/>
            </a:xfrm>
            <a:custGeom>
              <a:avLst/>
              <a:gdLst/>
              <a:ahLst/>
              <a:cxnLst/>
              <a:rect r="r" b="b" t="t" l="l"/>
              <a:pathLst>
                <a:path h="1107240" w="2222647">
                  <a:moveTo>
                    <a:pt x="8256" y="0"/>
                  </a:moveTo>
                  <a:lnTo>
                    <a:pt x="2214390" y="0"/>
                  </a:lnTo>
                  <a:cubicBezTo>
                    <a:pt x="2218950" y="0"/>
                    <a:pt x="2222647" y="3697"/>
                    <a:pt x="2222647" y="8256"/>
                  </a:cubicBezTo>
                  <a:lnTo>
                    <a:pt x="2222647" y="1098984"/>
                  </a:lnTo>
                  <a:cubicBezTo>
                    <a:pt x="2222647" y="1101173"/>
                    <a:pt x="2221777" y="1103274"/>
                    <a:pt x="2220228" y="1104822"/>
                  </a:cubicBezTo>
                  <a:cubicBezTo>
                    <a:pt x="2218680" y="1106370"/>
                    <a:pt x="2216580" y="1107240"/>
                    <a:pt x="2214390" y="1107240"/>
                  </a:cubicBezTo>
                  <a:lnTo>
                    <a:pt x="8256" y="1107240"/>
                  </a:lnTo>
                  <a:cubicBezTo>
                    <a:pt x="6067" y="1107240"/>
                    <a:pt x="3967" y="1106370"/>
                    <a:pt x="2418" y="1104822"/>
                  </a:cubicBezTo>
                  <a:cubicBezTo>
                    <a:pt x="870" y="1103274"/>
                    <a:pt x="0" y="1101173"/>
                    <a:pt x="0" y="1098984"/>
                  </a:cubicBezTo>
                  <a:lnTo>
                    <a:pt x="0" y="8256"/>
                  </a:lnTo>
                  <a:cubicBezTo>
                    <a:pt x="0" y="6067"/>
                    <a:pt x="870" y="3967"/>
                    <a:pt x="2418" y="2418"/>
                  </a:cubicBezTo>
                  <a:cubicBezTo>
                    <a:pt x="3967" y="870"/>
                    <a:pt x="6067" y="0"/>
                    <a:pt x="82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22647" cy="1116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static int write_u32(FILE *fp, unsigned long value) {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unsigned char bytes[4];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bytes[0] = (unsigned char)(value &amp; 0xFFUL);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bytes[1] = (unsigned char)((value &gt;&gt; 8) &amp; 0xFFUL);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bytes[2] = (unsigned char)((value &gt;&gt; 16) &amp; 0xFFUL);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bytes[3] = (unsigned char)((value &gt;&gt; 24) &amp; 0xFFUL);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return fwrite(bytes, sizeof(unsigned char), 4, fp) == 4;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}</a:t>
              </a:r>
            </a:p>
            <a:p>
              <a:pPr algn="ctr">
                <a:lnSpc>
                  <a:spcPts val="1920"/>
                </a:lnSpc>
              </a:pP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static int write_entity(FILE *fp, const Entity *entity) {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return write_u32(fp, (unsigned long)entity-&gt;x)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&amp;&amp; write_u32(fp, (unsigned long)entity-&gt;y)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&amp;&amp; fwrite(&amp;symbol, sizeof(unsigned char), 1, fp) == 1;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}</a:t>
              </a:r>
            </a:p>
            <a:p>
              <a:pPr algn="ctr">
                <a:lnSpc>
                  <a:spcPts val="19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94898" y="707506"/>
            <a:ext cx="18397665" cy="1604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2"/>
              </a:lnSpc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5.5 SAVE AND LOAD SYSTEM</a:t>
            </a:r>
          </a:p>
          <a:p>
            <a:pPr algn="l">
              <a:lnSpc>
                <a:spcPts val="6072"/>
              </a:lnSpc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PORTABLE FORMAT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46885" y="5065372"/>
            <a:ext cx="5510287" cy="401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Explicit little-endian integer encoding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Entity fields serialized one-by-one (not raw struct dump)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Portable across OS/compiler struct layouts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Protects against padding and endianness mismatches</a:t>
            </a: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599256" y="4344771"/>
            <a:ext cx="4773317" cy="36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30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SAVE.C SERIALIZATION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1249276" y="2026975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4724825" y="2026975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8200373" y="2026975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8" y="0"/>
                </a:lnTo>
                <a:lnTo>
                  <a:pt x="1395218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1675922" y="2026975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00281" y="2927932"/>
            <a:ext cx="2881435" cy="50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MAGIC</a:t>
            </a:r>
          </a:p>
          <a:p>
            <a:pPr algn="l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ABYSS2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81716" y="2806624"/>
            <a:ext cx="2881435" cy="50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WIDTH/HEIGHT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(U32 LE)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15977" y="2927932"/>
            <a:ext cx="1564009" cy="26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MAP BYTES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37008" y="2800220"/>
            <a:ext cx="2473046" cy="50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ENTITIES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X,Y, SYMBOL</a:t>
            </a:r>
          </a:p>
        </p:txBody>
      </p:sp>
      <p:sp>
        <p:nvSpPr>
          <p:cNvPr name="AutoShape 18" id="18"/>
          <p:cNvSpPr/>
          <p:nvPr/>
        </p:nvSpPr>
        <p:spPr>
          <a:xfrm>
            <a:off x="3062247" y="3142337"/>
            <a:ext cx="124482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6629740" y="3142337"/>
            <a:ext cx="109107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10090219" y="3142337"/>
            <a:ext cx="109107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1" id="21"/>
          <p:cNvSpPr/>
          <p:nvPr/>
        </p:nvSpPr>
        <p:spPr>
          <a:xfrm flipH="false" flipV="false" rot="-5400000">
            <a:off x="15195757" y="2026975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656843" y="2921528"/>
            <a:ext cx="2473046" cy="50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FLAGS + STEPS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(U32 LE)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3610054" y="3142337"/>
            <a:ext cx="109107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281110" y="2663352"/>
            <a:ext cx="4841341" cy="7740515"/>
          </a:xfrm>
          <a:custGeom>
            <a:avLst/>
            <a:gdLst/>
            <a:ahLst/>
            <a:cxnLst/>
            <a:rect r="r" b="b" t="t" l="l"/>
            <a:pathLst>
              <a:path h="7740515" w="4841341">
                <a:moveTo>
                  <a:pt x="0" y="0"/>
                </a:moveTo>
                <a:lnTo>
                  <a:pt x="4841340" y="0"/>
                </a:lnTo>
                <a:lnTo>
                  <a:pt x="4841340" y="7740515"/>
                </a:lnTo>
                <a:lnTo>
                  <a:pt x="0" y="77405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31923" y="3508976"/>
            <a:ext cx="9168362" cy="6049268"/>
            <a:chOff x="0" y="0"/>
            <a:chExt cx="2414713" cy="15932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4713" cy="1593223"/>
            </a:xfrm>
            <a:custGeom>
              <a:avLst/>
              <a:gdLst/>
              <a:ahLst/>
              <a:cxnLst/>
              <a:rect r="r" b="b" t="t" l="l"/>
              <a:pathLst>
                <a:path h="1593223" w="2414713">
                  <a:moveTo>
                    <a:pt x="7600" y="0"/>
                  </a:moveTo>
                  <a:lnTo>
                    <a:pt x="2407113" y="0"/>
                  </a:lnTo>
                  <a:cubicBezTo>
                    <a:pt x="2409129" y="0"/>
                    <a:pt x="2411062" y="801"/>
                    <a:pt x="2412487" y="2226"/>
                  </a:cubicBezTo>
                  <a:cubicBezTo>
                    <a:pt x="2413912" y="3651"/>
                    <a:pt x="2414713" y="5584"/>
                    <a:pt x="2414713" y="7600"/>
                  </a:cubicBezTo>
                  <a:lnTo>
                    <a:pt x="2414713" y="1585623"/>
                  </a:lnTo>
                  <a:cubicBezTo>
                    <a:pt x="2414713" y="1589820"/>
                    <a:pt x="2411310" y="1593223"/>
                    <a:pt x="2407113" y="1593223"/>
                  </a:cubicBezTo>
                  <a:lnTo>
                    <a:pt x="7600" y="1593223"/>
                  </a:lnTo>
                  <a:cubicBezTo>
                    <a:pt x="3403" y="1593223"/>
                    <a:pt x="0" y="1589820"/>
                    <a:pt x="0" y="1585623"/>
                  </a:cubicBezTo>
                  <a:lnTo>
                    <a:pt x="0" y="7600"/>
                  </a:lnTo>
                  <a:cubicBezTo>
                    <a:pt x="0" y="3403"/>
                    <a:pt x="3403" y="0"/>
                    <a:pt x="7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414713" cy="160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int load_game(void)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// read to temporary buffers first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fread(loaded_map, ...);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read_entity(fp, &amp;loaded_player);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read_entity(fp, &amp;loaded_enemy);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read_entity(fp, &amp;loaded_weapon);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if (!validate_loaded_state(loaded_map, loaded_width, loaded_height,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                   &amp;loaded_player, &amp;loaded_enemy, &amp;loaded_weapon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                   loaded_has_weapon, loaded_monster_dead,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                       loaded_steps)) {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  return -1;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}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// commit only after full validation passes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map_width = loaded_width;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map_height = loaded_height;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memcpy(cave_map, loaded_map, sizeof(loaded_map));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player = loaded_player;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enemy = loaded_enemy;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weapon = loaded_weapon;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return loaded_steps;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}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19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94898" y="707506"/>
            <a:ext cx="18397665" cy="1604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2"/>
              </a:lnSpc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5.5 SAVE AND LOAD SYSTEM</a:t>
            </a:r>
          </a:p>
          <a:p>
            <a:pPr algn="l">
              <a:lnSpc>
                <a:spcPts val="6072"/>
              </a:lnSpc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VALIDATION AND SAFE COMMIT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6411" y="4357147"/>
            <a:ext cx="6673985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Validate magic signature and dimensions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Validate flags, symbols, and active map contents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Load into temporary buffers first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Commit to globals only after all checks pass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Rejects corrupted or impossible game states</a:t>
            </a: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711368" y="2979365"/>
            <a:ext cx="5409472" cy="36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30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SAVE.C TRANSACTIONAL LOAD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281110" y="2663352"/>
            <a:ext cx="4841341" cy="7740515"/>
          </a:xfrm>
          <a:custGeom>
            <a:avLst/>
            <a:gdLst/>
            <a:ahLst/>
            <a:cxnLst/>
            <a:rect r="r" b="b" t="t" l="l"/>
            <a:pathLst>
              <a:path h="7740515" w="4841341">
                <a:moveTo>
                  <a:pt x="0" y="0"/>
                </a:moveTo>
                <a:lnTo>
                  <a:pt x="4841340" y="0"/>
                </a:lnTo>
                <a:lnTo>
                  <a:pt x="4841340" y="7740515"/>
                </a:lnTo>
                <a:lnTo>
                  <a:pt x="0" y="77405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390498" y="4973121"/>
            <a:ext cx="8439111" cy="4204053"/>
            <a:chOff x="0" y="0"/>
            <a:chExt cx="2222647" cy="1107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2647" cy="1107240"/>
            </a:xfrm>
            <a:custGeom>
              <a:avLst/>
              <a:gdLst/>
              <a:ahLst/>
              <a:cxnLst/>
              <a:rect r="r" b="b" t="t" l="l"/>
              <a:pathLst>
                <a:path h="1107240" w="2222647">
                  <a:moveTo>
                    <a:pt x="8256" y="0"/>
                  </a:moveTo>
                  <a:lnTo>
                    <a:pt x="2214390" y="0"/>
                  </a:lnTo>
                  <a:cubicBezTo>
                    <a:pt x="2218950" y="0"/>
                    <a:pt x="2222647" y="3697"/>
                    <a:pt x="2222647" y="8256"/>
                  </a:cubicBezTo>
                  <a:lnTo>
                    <a:pt x="2222647" y="1098984"/>
                  </a:lnTo>
                  <a:cubicBezTo>
                    <a:pt x="2222647" y="1101173"/>
                    <a:pt x="2221777" y="1103274"/>
                    <a:pt x="2220228" y="1104822"/>
                  </a:cubicBezTo>
                  <a:cubicBezTo>
                    <a:pt x="2218680" y="1106370"/>
                    <a:pt x="2216580" y="1107240"/>
                    <a:pt x="2214390" y="1107240"/>
                  </a:cubicBezTo>
                  <a:lnTo>
                    <a:pt x="8256" y="1107240"/>
                  </a:lnTo>
                  <a:cubicBezTo>
                    <a:pt x="6067" y="1107240"/>
                    <a:pt x="3967" y="1106370"/>
                    <a:pt x="2418" y="1104822"/>
                  </a:cubicBezTo>
                  <a:cubicBezTo>
                    <a:pt x="870" y="1103274"/>
                    <a:pt x="0" y="1101173"/>
                    <a:pt x="0" y="1098984"/>
                  </a:cubicBezTo>
                  <a:lnTo>
                    <a:pt x="0" y="8256"/>
                  </a:lnTo>
                  <a:cubicBezTo>
                    <a:pt x="0" y="6067"/>
                    <a:pt x="870" y="3967"/>
                    <a:pt x="2418" y="2418"/>
                  </a:cubicBezTo>
                  <a:cubicBezTo>
                    <a:pt x="3967" y="870"/>
                    <a:pt x="6067" y="0"/>
                    <a:pt x="82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22647" cy="1116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static int compare_entries(const void *a, const void *b) {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return ((LeaderEntry *)a)-&gt;steps - ((LeaderEntry *)b)-&gt;steps;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}</a:t>
              </a:r>
            </a:p>
            <a:p>
              <a:pPr algn="ctr">
                <a:lnSpc>
                  <a:spcPts val="1920"/>
                </a:lnSpc>
              </a:pP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void record_score(int steps) {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count = load_entries(entries, MAX_LEADERBOARD - 1);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entries[count].steps = steps;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count++;</a:t>
              </a:r>
            </a:p>
            <a:p>
              <a:pPr algn="ctr">
                <a:lnSpc>
                  <a:spcPts val="1920"/>
                </a:lnSpc>
              </a:pP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qsort(entries, count, sizeof(LeaderEntry), compare_entries);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save_entries(entries, count);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}</a:t>
              </a:r>
            </a:p>
            <a:p>
              <a:pPr algn="ctr">
                <a:lnSpc>
                  <a:spcPts val="19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94898" y="707506"/>
            <a:ext cx="18397665" cy="84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2"/>
              </a:lnSpc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5.6 LEADERBOARD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6411" y="5023897"/>
            <a:ext cx="6673985" cy="300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leaderboard.csv stores initials and step count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Lower steps rank higher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Text parsing via strtok + strtol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Max leaderboard size bounded for safety</a:t>
            </a: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599256" y="4344771"/>
            <a:ext cx="4773317" cy="36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30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SAVE.C LEADERBOARD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1446454" y="1716067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4922003" y="1716067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8397551" y="1716067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1873100" y="1716067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97459" y="2617024"/>
            <a:ext cx="2881435" cy="26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READ CSV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78894" y="2495716"/>
            <a:ext cx="2881435" cy="75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APPEND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NEW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SCORE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13155" y="2617024"/>
            <a:ext cx="1564009" cy="50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QSORT</a:t>
            </a:r>
          </a:p>
          <a:p>
            <a:pPr algn="l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BY STEPS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34186" y="2731928"/>
            <a:ext cx="2473046" cy="26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WRITE CSV</a:t>
            </a:r>
          </a:p>
        </p:txBody>
      </p:sp>
      <p:sp>
        <p:nvSpPr>
          <p:cNvPr name="AutoShape 18" id="18"/>
          <p:cNvSpPr/>
          <p:nvPr/>
        </p:nvSpPr>
        <p:spPr>
          <a:xfrm>
            <a:off x="3259425" y="2831429"/>
            <a:ext cx="124482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6826918" y="2831429"/>
            <a:ext cx="109107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10287396" y="2831429"/>
            <a:ext cx="109107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274132" y="2627491"/>
            <a:ext cx="4841341" cy="7740515"/>
          </a:xfrm>
          <a:custGeom>
            <a:avLst/>
            <a:gdLst/>
            <a:ahLst/>
            <a:cxnLst/>
            <a:rect r="r" b="b" t="t" l="l"/>
            <a:pathLst>
              <a:path h="7740515" w="4841341">
                <a:moveTo>
                  <a:pt x="0" y="0"/>
                </a:moveTo>
                <a:lnTo>
                  <a:pt x="4841340" y="0"/>
                </a:lnTo>
                <a:lnTo>
                  <a:pt x="4841340" y="7740516"/>
                </a:lnTo>
                <a:lnTo>
                  <a:pt x="0" y="77405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850465" y="4605755"/>
            <a:ext cx="5522108" cy="4204053"/>
            <a:chOff x="0" y="0"/>
            <a:chExt cx="1454382" cy="1107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4382" cy="1107240"/>
            </a:xfrm>
            <a:custGeom>
              <a:avLst/>
              <a:gdLst/>
              <a:ahLst/>
              <a:cxnLst/>
              <a:rect r="r" b="b" t="t" l="l"/>
              <a:pathLst>
                <a:path h="1107240" w="1454382">
                  <a:moveTo>
                    <a:pt x="12618" y="0"/>
                  </a:moveTo>
                  <a:lnTo>
                    <a:pt x="1441765" y="0"/>
                  </a:lnTo>
                  <a:cubicBezTo>
                    <a:pt x="1448733" y="0"/>
                    <a:pt x="1454382" y="5649"/>
                    <a:pt x="1454382" y="12618"/>
                  </a:cubicBezTo>
                  <a:lnTo>
                    <a:pt x="1454382" y="1094622"/>
                  </a:lnTo>
                  <a:cubicBezTo>
                    <a:pt x="1454382" y="1101591"/>
                    <a:pt x="1448733" y="1107240"/>
                    <a:pt x="1441765" y="1107240"/>
                  </a:cubicBezTo>
                  <a:lnTo>
                    <a:pt x="12618" y="1107240"/>
                  </a:lnTo>
                  <a:cubicBezTo>
                    <a:pt x="5649" y="1107240"/>
                    <a:pt x="0" y="1101591"/>
                    <a:pt x="0" y="1094622"/>
                  </a:cubicBezTo>
                  <a:lnTo>
                    <a:pt x="0" y="12618"/>
                  </a:lnTo>
                  <a:cubicBezTo>
                    <a:pt x="0" y="5649"/>
                    <a:pt x="5649" y="0"/>
                    <a:pt x="126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54382" cy="1116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services: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abyss-walker: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build: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context: .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image: abyss-walker:latest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stdin_open: true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tty: true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volumes: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    - abyss_walker_data:/data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volumes: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abyss_walker_data:</a:t>
              </a:r>
            </a:p>
            <a:p>
              <a:pPr algn="ctr">
                <a:lnSpc>
                  <a:spcPts val="1920"/>
                </a:lnSpc>
              </a:pPr>
            </a:p>
            <a:p>
              <a:pPr algn="ctr">
                <a:lnSpc>
                  <a:spcPts val="19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94898" y="707506"/>
            <a:ext cx="18397665" cy="84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2"/>
              </a:lnSpc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5.7 DOCKERIZATION (OPTIONAL)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29434" y="4988036"/>
            <a:ext cx="6673985" cy="300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Compose service keeps stdin/tty enabled for gameplay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Named volume persists save and leaderboard files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Single command workflow for setup and execution</a:t>
            </a: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599256" y="4090447"/>
            <a:ext cx="4773317" cy="36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30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DOCKER-COMPOSE.YML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4787" y="2033047"/>
            <a:ext cx="11065006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Why Docter?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Portable and reproducible runtime across machines.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Optional: native gcc/make builit remains supported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413790" y="2600845"/>
            <a:ext cx="4625931" cy="7396111"/>
          </a:xfrm>
          <a:custGeom>
            <a:avLst/>
            <a:gdLst/>
            <a:ahLst/>
            <a:cxnLst/>
            <a:rect r="r" b="b" t="t" l="l"/>
            <a:pathLst>
              <a:path h="7396111" w="4625931">
                <a:moveTo>
                  <a:pt x="0" y="0"/>
                </a:moveTo>
                <a:lnTo>
                  <a:pt x="4625931" y="0"/>
                </a:lnTo>
                <a:lnTo>
                  <a:pt x="4625931" y="7396111"/>
                </a:lnTo>
                <a:lnTo>
                  <a:pt x="0" y="73961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4898" y="707506"/>
            <a:ext cx="18397665" cy="84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89827" indent="-744913" lvl="1">
              <a:lnSpc>
                <a:spcPts val="6072"/>
              </a:lnSpc>
              <a:buAutoNum type="arabicPeriod" startAt="1"/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DEVELOPMENT PROCESS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40580" y="4504893"/>
            <a:ext cx="5572351" cy="334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Iterative module-by-module development reduced integration risk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Cross-platform behavior enforced through strict C90 and Makefile workflow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• Portable save format replaced compiler-dependent raw memory dumps</a:t>
            </a: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1446454" y="1716067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4922003" y="1716067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8397551" y="1716067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1873100" y="1716067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97459" y="2617024"/>
            <a:ext cx="2881435" cy="50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PARSER+MAP</a:t>
            </a:r>
          </a:p>
          <a:p>
            <a:pPr algn="l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FOUNDATION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78894" y="2495716"/>
            <a:ext cx="2881435" cy="75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PROCEDURAL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MAZE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GENERATION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13155" y="2617024"/>
            <a:ext cx="1564009" cy="50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GAME LOOP+</a:t>
            </a:r>
          </a:p>
          <a:p>
            <a:pPr algn="l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RENDERING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34186" y="2731928"/>
            <a:ext cx="2473046" cy="50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ENEMY AI +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COMBAT</a:t>
            </a:r>
          </a:p>
        </p:txBody>
      </p:sp>
      <p:sp>
        <p:nvSpPr>
          <p:cNvPr name="AutoShape 14" id="14"/>
          <p:cNvSpPr/>
          <p:nvPr/>
        </p:nvSpPr>
        <p:spPr>
          <a:xfrm>
            <a:off x="3259425" y="2831429"/>
            <a:ext cx="124482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>
            <a:off x="6826918" y="2831429"/>
            <a:ext cx="109107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>
            <a:off x="10287396" y="2831429"/>
            <a:ext cx="109107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7" id="17"/>
          <p:cNvSpPr/>
          <p:nvPr/>
        </p:nvSpPr>
        <p:spPr>
          <a:xfrm flipH="false" flipV="false" rot="-5400000">
            <a:off x="15450085" y="1716067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5"/>
                </a:lnTo>
                <a:lnTo>
                  <a:pt x="0" y="2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931182" y="2489312"/>
            <a:ext cx="2473046" cy="75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SAVE/LOAD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+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LEADERBOARD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3864382" y="2831429"/>
            <a:ext cx="109107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0" id="20"/>
          <p:cNvSpPr/>
          <p:nvPr/>
        </p:nvSpPr>
        <p:spPr>
          <a:xfrm flipH="false" flipV="false" rot="-5400000">
            <a:off x="15450085" y="4028138"/>
            <a:ext cx="1395217" cy="2230725"/>
          </a:xfrm>
          <a:custGeom>
            <a:avLst/>
            <a:gdLst/>
            <a:ahLst/>
            <a:cxnLst/>
            <a:rect r="r" b="b" t="t" l="l"/>
            <a:pathLst>
              <a:path h="2230725" w="1395217">
                <a:moveTo>
                  <a:pt x="0" y="0"/>
                </a:moveTo>
                <a:lnTo>
                  <a:pt x="1395217" y="0"/>
                </a:lnTo>
                <a:lnTo>
                  <a:pt x="1395217" y="2230724"/>
                </a:lnTo>
                <a:lnTo>
                  <a:pt x="0" y="2230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904739" y="4798316"/>
            <a:ext cx="2473046" cy="75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DOCKER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+</a:t>
            </a:r>
          </a:p>
          <a:p>
            <a:pPr algn="ctr">
              <a:lnSpc>
                <a:spcPts val="1943"/>
              </a:lnSpc>
            </a:pPr>
            <a:r>
              <a:rPr lang="en-US" sz="2208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POLISH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6346656" y="3509976"/>
            <a:ext cx="0" cy="935916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8393" y="2966406"/>
            <a:ext cx="3059013" cy="4890863"/>
          </a:xfrm>
          <a:custGeom>
            <a:avLst/>
            <a:gdLst/>
            <a:ahLst/>
            <a:cxnLst/>
            <a:rect r="r" b="b" t="t" l="l"/>
            <a:pathLst>
              <a:path h="4890863" w="3059013">
                <a:moveTo>
                  <a:pt x="0" y="0"/>
                </a:moveTo>
                <a:lnTo>
                  <a:pt x="3059013" y="0"/>
                </a:lnTo>
                <a:lnTo>
                  <a:pt x="3059013" y="4890863"/>
                </a:lnTo>
                <a:lnTo>
                  <a:pt x="0" y="4890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3918" y="707506"/>
            <a:ext cx="17063291" cy="84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89827" indent="-744913" lvl="1">
              <a:lnSpc>
                <a:spcPts val="6072"/>
              </a:lnSpc>
              <a:buAutoNum type="arabicPeriod" startAt="1"/>
            </a:pPr>
            <a:r>
              <a:rPr lang="en-US" sz="6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CHALLENGES ENCOUNTERED AND FIXES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5381" y="4264930"/>
            <a:ext cx="3985037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</a:p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Monster logic remained active after combat in earlier versions.</a:t>
            </a:r>
          </a:p>
          <a:p>
            <a:pPr algn="l">
              <a:lnSpc>
                <a:spcPts val="2189"/>
              </a:lnSpc>
            </a:pPr>
          </a:p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Fix: Respect monster_dead in movement and rendering paths.</a:t>
            </a:r>
          </a:p>
          <a:p>
            <a:pPr algn="l">
              <a:lnSpc>
                <a:spcPts val="218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98953" y="3382901"/>
            <a:ext cx="4088712" cy="49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9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CHALLENGE 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7616057" y="3000171"/>
            <a:ext cx="3059013" cy="4890863"/>
          </a:xfrm>
          <a:custGeom>
            <a:avLst/>
            <a:gdLst/>
            <a:ahLst/>
            <a:cxnLst/>
            <a:rect r="r" b="b" t="t" l="l"/>
            <a:pathLst>
              <a:path h="4890863" w="3059013">
                <a:moveTo>
                  <a:pt x="0" y="0"/>
                </a:moveTo>
                <a:lnTo>
                  <a:pt x="3059013" y="0"/>
                </a:lnTo>
                <a:lnTo>
                  <a:pt x="3059013" y="4890863"/>
                </a:lnTo>
                <a:lnTo>
                  <a:pt x="0" y="4890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46141" y="4335513"/>
            <a:ext cx="3985037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Naive movement got stuck behind walls.</a:t>
            </a:r>
          </a:p>
          <a:p>
            <a:pPr algn="l">
              <a:lnSpc>
                <a:spcPts val="2429"/>
              </a:lnSpc>
            </a:pPr>
          </a:p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Fix: BFS shortest-path logic for chase and patrol modes.</a:t>
            </a:r>
          </a:p>
          <a:p>
            <a:pPr algn="l">
              <a:lnSpc>
                <a:spcPts val="242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356616" y="3416666"/>
            <a:ext cx="4088712" cy="49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9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CHALLENGE 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13570594" y="3033936"/>
            <a:ext cx="3059013" cy="4890863"/>
          </a:xfrm>
          <a:custGeom>
            <a:avLst/>
            <a:gdLst/>
            <a:ahLst/>
            <a:cxnLst/>
            <a:rect r="r" b="b" t="t" l="l"/>
            <a:pathLst>
              <a:path h="4890863" w="3059013">
                <a:moveTo>
                  <a:pt x="0" y="0"/>
                </a:moveTo>
                <a:lnTo>
                  <a:pt x="3059013" y="0"/>
                </a:lnTo>
                <a:lnTo>
                  <a:pt x="3059013" y="4890863"/>
                </a:lnTo>
                <a:lnTo>
                  <a:pt x="0" y="4890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200720" y="4231165"/>
            <a:ext cx="3985037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Parser/save correctness and portability risks.</a:t>
            </a:r>
          </a:p>
          <a:p>
            <a:pPr algn="l">
              <a:lnSpc>
                <a:spcPts val="2189"/>
              </a:lnSpc>
            </a:pPr>
          </a:p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FAFEB4"/>
                </a:solidFill>
                <a:latin typeface="Anonymous Pro"/>
                <a:ea typeface="Anonymous Pro"/>
                <a:cs typeface="Anonymous Pro"/>
                <a:sym typeface="Anonymous Pro"/>
              </a:rPr>
              <a:t>Fix: stronger parsing checks + explicit portable binary serialization + load validation.</a:t>
            </a:r>
          </a:p>
          <a:p>
            <a:pPr algn="l">
              <a:lnSpc>
                <a:spcPts val="218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311153" y="3450431"/>
            <a:ext cx="4088712" cy="49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39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CHALLENGE 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60660" y="3718937"/>
            <a:ext cx="11566680" cy="25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28"/>
              </a:lnSpc>
              <a:spcBef>
                <a:spcPct val="0"/>
              </a:spcBef>
            </a:pPr>
            <a:r>
              <a:rPr lang="en-US" sz="14877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795345" y="3092795"/>
            <a:ext cx="3423515" cy="2798724"/>
          </a:xfrm>
          <a:custGeom>
            <a:avLst/>
            <a:gdLst/>
            <a:ahLst/>
            <a:cxnLst/>
            <a:rect r="r" b="b" t="t" l="l"/>
            <a:pathLst>
              <a:path h="2798724" w="3423515">
                <a:moveTo>
                  <a:pt x="0" y="0"/>
                </a:moveTo>
                <a:lnTo>
                  <a:pt x="3423516" y="0"/>
                </a:lnTo>
                <a:lnTo>
                  <a:pt x="3423516" y="2798724"/>
                </a:lnTo>
                <a:lnTo>
                  <a:pt x="0" y="2798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069139" y="3092795"/>
            <a:ext cx="3423515" cy="2798724"/>
          </a:xfrm>
          <a:custGeom>
            <a:avLst/>
            <a:gdLst/>
            <a:ahLst/>
            <a:cxnLst/>
            <a:rect r="r" b="b" t="t" l="l"/>
            <a:pathLst>
              <a:path h="2798724" w="3423515">
                <a:moveTo>
                  <a:pt x="3423516" y="0"/>
                </a:moveTo>
                <a:lnTo>
                  <a:pt x="0" y="0"/>
                </a:lnTo>
                <a:lnTo>
                  <a:pt x="0" y="2798724"/>
                </a:lnTo>
                <a:lnTo>
                  <a:pt x="3423516" y="2798724"/>
                </a:lnTo>
                <a:lnTo>
                  <a:pt x="342351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063866"/>
            <a:ext cx="637073" cy="159268"/>
          </a:xfrm>
          <a:custGeom>
            <a:avLst/>
            <a:gdLst/>
            <a:ahLst/>
            <a:cxnLst/>
            <a:rect r="r" b="b" t="t" l="l"/>
            <a:pathLst>
              <a:path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22227" y="5063866"/>
            <a:ext cx="637073" cy="159268"/>
          </a:xfrm>
          <a:custGeom>
            <a:avLst/>
            <a:gdLst/>
            <a:ahLst/>
            <a:cxnLst/>
            <a:rect r="r" b="b" t="t" l="l"/>
            <a:pathLst>
              <a:path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0287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7315200" y="0"/>
                </a:moveTo>
                <a:lnTo>
                  <a:pt x="0" y="0"/>
                </a:lnTo>
                <a:lnTo>
                  <a:pt x="0" y="1077329"/>
                </a:lnTo>
                <a:lnTo>
                  <a:pt x="7315200" y="10773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73776" y="6793357"/>
            <a:ext cx="1234044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30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https://github.com/RichyYhcir/PLC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DAHHR5hZZHE</dc:identifier>
  <dcterms:modified xsi:type="dcterms:W3CDTF">2011-08-01T06:04:30Z</dcterms:modified>
  <cp:revision>1</cp:revision>
  <dc:title>Abyss Walker</dc:title>
</cp:coreProperties>
</file>